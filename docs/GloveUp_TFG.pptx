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2" d="100"/>
          <a:sy n="92" d="100"/>
        </p:scale>
        <p:origin x="540" y="-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143000"/>
            <a:ext cx="1523999" cy="1523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5989" y="2789555"/>
            <a:ext cx="2454910" cy="537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599" y="495299"/>
            <a:ext cx="38100" cy="400050"/>
          </a:xfrm>
          <a:custGeom>
            <a:avLst/>
            <a:gdLst/>
            <a:ahLst/>
            <a:cxnLst/>
            <a:rect l="l" t="t" r="r" b="b"/>
            <a:pathLst>
              <a:path w="38100" h="400050">
                <a:moveTo>
                  <a:pt x="21576" y="400048"/>
                </a:moveTo>
                <a:lnTo>
                  <a:pt x="16523" y="400048"/>
                </a:lnTo>
                <a:lnTo>
                  <a:pt x="14093" y="399564"/>
                </a:lnTo>
                <a:lnTo>
                  <a:pt x="0" y="383523"/>
                </a:lnTo>
                <a:lnTo>
                  <a:pt x="0" y="380999"/>
                </a:lnTo>
                <a:lnTo>
                  <a:pt x="0" y="16522"/>
                </a:lnTo>
                <a:lnTo>
                  <a:pt x="16523" y="0"/>
                </a:lnTo>
                <a:lnTo>
                  <a:pt x="21576" y="0"/>
                </a:lnTo>
                <a:lnTo>
                  <a:pt x="38099" y="16522"/>
                </a:lnTo>
                <a:lnTo>
                  <a:pt x="38099" y="383523"/>
                </a:lnTo>
                <a:lnTo>
                  <a:pt x="24006" y="399564"/>
                </a:lnTo>
                <a:lnTo>
                  <a:pt x="21576" y="400048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6449" y="514984"/>
            <a:ext cx="2882900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800" y="1121155"/>
            <a:ext cx="7517765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1212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50" dirty="0"/>
              <a:t>G</a:t>
            </a:r>
            <a:r>
              <a:rPr sz="3350" spc="-484" dirty="0"/>
              <a:t> </a:t>
            </a:r>
            <a:r>
              <a:rPr sz="3350" dirty="0"/>
              <a:t>L</a:t>
            </a:r>
            <a:r>
              <a:rPr sz="3350" spc="-484" dirty="0"/>
              <a:t> </a:t>
            </a:r>
            <a:r>
              <a:rPr sz="3350" dirty="0"/>
              <a:t>O</a:t>
            </a:r>
            <a:r>
              <a:rPr sz="3350" spc="-484" dirty="0"/>
              <a:t> </a:t>
            </a:r>
            <a:r>
              <a:rPr sz="3350" dirty="0"/>
              <a:t>V</a:t>
            </a:r>
            <a:r>
              <a:rPr sz="3350" spc="-484" dirty="0"/>
              <a:t> </a:t>
            </a:r>
            <a:r>
              <a:rPr sz="3350" dirty="0"/>
              <a:t>E</a:t>
            </a:r>
            <a:r>
              <a:rPr sz="3350" spc="-484" dirty="0"/>
              <a:t> </a:t>
            </a:r>
            <a:r>
              <a:rPr sz="3350" dirty="0"/>
              <a:t>U</a:t>
            </a:r>
            <a:r>
              <a:rPr sz="3350" spc="-484" dirty="0"/>
              <a:t> </a:t>
            </a:r>
            <a:r>
              <a:rPr sz="3350" spc="-50" dirty="0"/>
              <a:t>P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4286249" y="3476624"/>
            <a:ext cx="571500" cy="19050"/>
          </a:xfrm>
          <a:custGeom>
            <a:avLst/>
            <a:gdLst/>
            <a:ahLst/>
            <a:cxnLst/>
            <a:rect l="l" t="t" r="r" b="b"/>
            <a:pathLst>
              <a:path w="571500" h="19050">
                <a:moveTo>
                  <a:pt x="571499" y="19049"/>
                </a:moveTo>
                <a:lnTo>
                  <a:pt x="0" y="19049"/>
                </a:lnTo>
                <a:lnTo>
                  <a:pt x="0" y="0"/>
                </a:lnTo>
                <a:lnTo>
                  <a:pt x="571499" y="0"/>
                </a:lnTo>
                <a:lnTo>
                  <a:pt x="571499" y="19049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28242" y="3549063"/>
            <a:ext cx="4058920" cy="4692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R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E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D</a:t>
            </a:r>
            <a:r>
              <a:rPr sz="1050" spc="484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S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r>
              <a:rPr sz="105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C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I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05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L</a:t>
            </a:r>
            <a:r>
              <a:rPr sz="1050" spc="4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P</a:t>
            </a:r>
            <a:r>
              <a:rPr sz="1050" spc="-1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R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050" spc="4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D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E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P</a:t>
            </a:r>
            <a:r>
              <a:rPr sz="105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R</a:t>
            </a:r>
            <a:r>
              <a:rPr sz="1050" spc="-8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T</a:t>
            </a:r>
            <a:r>
              <a:rPr sz="105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E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S</a:t>
            </a:r>
            <a:r>
              <a:rPr sz="1050" spc="484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D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E</a:t>
            </a:r>
            <a:r>
              <a:rPr sz="1050" spc="484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C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r>
              <a:rPr sz="105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N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T</a:t>
            </a:r>
            <a:r>
              <a:rPr sz="1050" spc="-1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C</a:t>
            </a:r>
            <a:r>
              <a:rPr sz="1050" spc="-6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chemeClr val="tx1"/>
                </a:solidFill>
                <a:latin typeface="Arial MT"/>
                <a:cs typeface="Arial MT"/>
              </a:rPr>
              <a:t>T</a:t>
            </a:r>
            <a:r>
              <a:rPr sz="1050" spc="-8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endParaRPr sz="10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8890" algn="ctr">
              <a:lnSpc>
                <a:spcPct val="100000"/>
              </a:lnSpc>
              <a:spcBef>
                <a:spcPts val="540"/>
              </a:spcBef>
            </a:pP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S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I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D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I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K</a:t>
            </a:r>
            <a:r>
              <a:rPr sz="900" spc="3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M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U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N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I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R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U</a:t>
            </a:r>
            <a:r>
              <a:rPr sz="900" spc="3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R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O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C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900" spc="240" dirty="0">
                <a:solidFill>
                  <a:schemeClr val="tx1"/>
                </a:solidFill>
                <a:latin typeface="Arial MT"/>
                <a:cs typeface="Arial MT"/>
              </a:rPr>
              <a:t> 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·</a:t>
            </a:r>
            <a:r>
              <a:rPr sz="900" spc="265" dirty="0">
                <a:solidFill>
                  <a:schemeClr val="tx1"/>
                </a:solidFill>
                <a:latin typeface="Arial MT"/>
                <a:cs typeface="Arial MT"/>
              </a:rPr>
              <a:t> 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D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M</a:t>
            </a:r>
            <a:r>
              <a:rPr sz="900" spc="3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2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0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2</a:t>
            </a:r>
            <a:r>
              <a:rPr sz="9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chemeClr val="tx1"/>
                </a:solidFill>
                <a:latin typeface="Arial MT"/>
                <a:cs typeface="Arial MT"/>
              </a:rPr>
              <a:t>6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0" dirty="0"/>
              <a:t>INTRODUCCIÓN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8660" y="621665"/>
            <a:ext cx="5003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1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/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CCCCCC"/>
                </a:solidFill>
                <a:latin typeface="Arial MT"/>
                <a:cs typeface="Arial MT"/>
              </a:rPr>
              <a:t>4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171574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9800" y="1121155"/>
            <a:ext cx="7430134" cy="1587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Tengo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21</a:t>
            </a:r>
            <a:r>
              <a:rPr sz="1100" b="1" spc="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años</a:t>
            </a:r>
            <a:r>
              <a:rPr sz="1100" b="1" spc="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y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llevo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boxeando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desde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los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17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—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el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deporte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contacto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forma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parte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mi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vida,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es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solo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un</a:t>
            </a:r>
            <a:r>
              <a:rPr sz="1100" spc="7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12121"/>
                </a:solidFill>
                <a:latin typeface="Arial MT"/>
                <a:cs typeface="Arial MT"/>
              </a:rPr>
              <a:t>tema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4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estudio.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GloveUp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nace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una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necesidad</a:t>
            </a:r>
            <a:r>
              <a:rPr sz="1100" b="1" spc="1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real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detectada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desde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dentro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del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mundo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del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boxeo.</a:t>
            </a:r>
            <a:endParaRPr sz="1100">
              <a:latin typeface="Arial MT"/>
              <a:cs typeface="Arial MT"/>
            </a:endParaRPr>
          </a:p>
          <a:p>
            <a:pPr marL="12700" marR="440690">
              <a:lnSpc>
                <a:spcPct val="227300"/>
              </a:lnSpc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Proyecto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enfocado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exclusivamente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en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deportes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de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contacto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: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boxeo,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kickboxing,</a:t>
            </a:r>
            <a:r>
              <a:rPr sz="1100" spc="1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MMA</a:t>
            </a:r>
            <a:r>
              <a:rPr sz="1100" spc="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y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disciplinas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afines.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Conecta</a:t>
            </a:r>
            <a:r>
              <a:rPr sz="1100" spc="1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boxeadores,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entrenadores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y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gimnasios</a:t>
            </a:r>
            <a:r>
              <a:rPr sz="1100" b="1" spc="13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en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una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única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plataforma</a:t>
            </a:r>
            <a:r>
              <a:rPr sz="1100" spc="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especializada.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762124"/>
            <a:ext cx="190499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143124"/>
            <a:ext cx="190499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524124"/>
            <a:ext cx="190499" cy="1904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0" dirty="0"/>
              <a:t>¿POR</a:t>
            </a:r>
            <a:r>
              <a:rPr spc="165" dirty="0"/>
              <a:t> </a:t>
            </a:r>
            <a:r>
              <a:rPr spc="55" dirty="0"/>
              <a:t>QUÉ</a:t>
            </a:r>
            <a:r>
              <a:rPr spc="165" dirty="0"/>
              <a:t> </a:t>
            </a:r>
            <a:r>
              <a:rPr spc="60" dirty="0"/>
              <a:t>GLOVEUP?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8660" y="621665"/>
            <a:ext cx="5003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2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/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CCCCCC"/>
                </a:solidFill>
                <a:latin typeface="Arial MT"/>
                <a:cs typeface="Arial MT"/>
              </a:rPr>
              <a:t>4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171574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9800" y="1121155"/>
            <a:ext cx="7526655" cy="1587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Gimnasios</a:t>
            </a:r>
            <a:r>
              <a:rPr sz="11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con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recursos</a:t>
            </a:r>
            <a:r>
              <a:rPr sz="1100" b="1" spc="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o</a:t>
            </a:r>
            <a:r>
              <a:rPr sz="1100" b="1" spc="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entrenadores</a:t>
            </a:r>
            <a:r>
              <a:rPr sz="1100" b="1" spc="10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limitados</a:t>
            </a:r>
            <a:r>
              <a:rPr sz="1100" b="1" spc="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que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no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pueden</a:t>
            </a:r>
            <a:r>
              <a:rPr sz="11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atender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boxeadores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alto</a:t>
            </a:r>
            <a:r>
              <a:rPr sz="11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nivel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por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distancia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12121"/>
                </a:solidFill>
                <a:latin typeface="Arial MT"/>
                <a:cs typeface="Arial MT"/>
              </a:rPr>
              <a:t>o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falta</a:t>
            </a:r>
            <a:r>
              <a:rPr sz="1100" spc="6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nivel.</a:t>
            </a:r>
            <a:endParaRPr sz="1100">
              <a:latin typeface="Arial MT"/>
              <a:cs typeface="Arial MT"/>
            </a:endParaRPr>
          </a:p>
          <a:p>
            <a:pPr marL="12700" marR="206375">
              <a:lnSpc>
                <a:spcPct val="227300"/>
              </a:lnSpc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Boxeadores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cuyo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nivel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supera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al</a:t>
            </a:r>
            <a:r>
              <a:rPr sz="1100" b="1" spc="1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de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su</a:t>
            </a:r>
            <a:r>
              <a:rPr sz="1100" b="1" spc="10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gimnasio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y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necesitan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acceder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entrenadores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sparrings</a:t>
            </a:r>
            <a:r>
              <a:rPr sz="11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externos.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No</a:t>
            </a:r>
            <a:r>
              <a:rPr sz="11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existe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ninguna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plataforma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especializada</a:t>
            </a:r>
            <a:r>
              <a:rPr sz="1100" b="1" spc="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y</a:t>
            </a:r>
            <a:r>
              <a:rPr sz="1100" b="1" spc="1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centralizada</a:t>
            </a:r>
            <a:r>
              <a:rPr sz="1100" b="1" spc="10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para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el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ecosistema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del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boxeo</a:t>
            </a:r>
            <a:r>
              <a:rPr sz="110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en</a:t>
            </a:r>
            <a:r>
              <a:rPr sz="1100" spc="10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España.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GloveUp</a:t>
            </a:r>
            <a:r>
              <a:rPr sz="11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resuelve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la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falta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de</a:t>
            </a:r>
            <a:r>
              <a:rPr sz="1100" b="1" spc="9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visibilidad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y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12121"/>
                </a:solidFill>
                <a:latin typeface="Arial"/>
                <a:cs typeface="Arial"/>
              </a:rPr>
              <a:t>conexión</a:t>
            </a:r>
            <a:r>
              <a:rPr sz="1100" b="1" spc="9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entre</a:t>
            </a:r>
            <a:r>
              <a:rPr sz="11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todos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los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actores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del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deporte</a:t>
            </a:r>
            <a:r>
              <a:rPr sz="1100" spc="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12121"/>
                </a:solidFill>
                <a:latin typeface="Arial MT"/>
                <a:cs typeface="Arial MT"/>
              </a:rPr>
              <a:t>de</a:t>
            </a:r>
            <a:r>
              <a:rPr sz="110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Arial MT"/>
                <a:cs typeface="Arial MT"/>
              </a:rPr>
              <a:t>contacto.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762124"/>
            <a:ext cx="190499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99" y="2143124"/>
            <a:ext cx="190499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99" y="2524124"/>
            <a:ext cx="190499" cy="190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F2C97-4048-65C2-529F-187D8C2D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49" y="514984"/>
            <a:ext cx="2882900" cy="292388"/>
          </a:xfrm>
        </p:spPr>
        <p:txBody>
          <a:bodyPr/>
          <a:lstStyle/>
          <a:p>
            <a:r>
              <a:rPr lang="es-ES" dirty="0"/>
              <a:t>DAFO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35F15F8-34C8-EADA-CCAE-0BF8F3E15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195253"/>
              </p:ext>
            </p:extLst>
          </p:nvPr>
        </p:nvGraphicFramePr>
        <p:xfrm>
          <a:off x="1524000" y="904156"/>
          <a:ext cx="6172200" cy="37556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25701144"/>
                    </a:ext>
                  </a:extLst>
                </a:gridCol>
                <a:gridCol w="2270234">
                  <a:extLst>
                    <a:ext uri="{9D8B030D-6E8A-4147-A177-3AD203B41FA5}">
                      <a16:colId xmlns:a16="http://schemas.microsoft.com/office/drawing/2014/main" val="262857524"/>
                    </a:ext>
                  </a:extLst>
                </a:gridCol>
                <a:gridCol w="1844566">
                  <a:extLst>
                    <a:ext uri="{9D8B030D-6E8A-4147-A177-3AD203B41FA5}">
                      <a16:colId xmlns:a16="http://schemas.microsoft.com/office/drawing/2014/main" val="3379420485"/>
                    </a:ext>
                  </a:extLst>
                </a:gridCol>
              </a:tblGrid>
              <a:tr h="2079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POSITIVO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="1" dirty="0">
                          <a:solidFill>
                            <a:schemeClr val="bg1"/>
                          </a:solidFill>
                          <a:effectLst/>
                        </a:rPr>
                        <a:t>NEGATIVO</a:t>
                      </a:r>
                      <a:endParaRPr lang="es-E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23977"/>
                  </a:ext>
                </a:extLst>
              </a:tr>
              <a:tr h="179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INTERNO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Fortalezas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Debilidades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95014"/>
                  </a:ext>
                </a:extLst>
              </a:tr>
              <a:tr h="3726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>
                          <a:effectLst/>
                        </a:rPr>
                        <a:t>Plataforma especializada, no existe nada igual en España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Solo cubre boxeo por ahora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815898"/>
                  </a:ext>
                </a:extLst>
              </a:tr>
              <a:tr h="5249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 dirty="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Sistema de doble aprobación entre entrenadores para los sparrings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>
                          <a:effectLst/>
                        </a:rPr>
                        <a:t>Requiere que ambos boxeadores tengan entrenador asignado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894820"/>
                  </a:ext>
                </a:extLst>
              </a:tr>
              <a:tr h="3726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 dirty="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Datos sensibles cifrados (DNI con AES-256, contraseñas con bcrypt)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Sin app móvil nativa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485274"/>
                  </a:ext>
                </a:extLst>
              </a:tr>
              <a:tr h="3726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 dirty="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Desplegable en cualquier máquina con un solo comando (Docker)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634621"/>
                  </a:ext>
                </a:extLst>
              </a:tr>
              <a:tr h="179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EXTERNO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Oportunidades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effectLst/>
                        </a:rPr>
                        <a:t>Amenazas</a:t>
                      </a:r>
                      <a:endParaRPr lang="es-E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176716"/>
                  </a:ext>
                </a:extLst>
              </a:tr>
              <a:tr h="5249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 dirty="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Escalable a MMA, Kickboxing, Muay Thai sin grandes cambios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Plataformas generalistas como Instagram ya conectan deportistas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74386"/>
                  </a:ext>
                </a:extLst>
              </a:tr>
              <a:tr h="52491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Posible integración con federaciones y ligas oficiales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Dependencia de que los gimnasios adopten la plataforma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770513"/>
                  </a:ext>
                </a:extLst>
              </a:tr>
              <a:tr h="35204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200">
                        <a:effectLst/>
                      </a:endParaRPr>
                    </a:p>
                  </a:txBody>
                  <a:tcPr marL="3338" marR="3338" marT="3338" marB="333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Crecimiento del deporte de contacto en España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>
                          <a:effectLst/>
                        </a:rPr>
                        <a:t>Poca masa crítica de usuarios al inicio</a:t>
                      </a:r>
                    </a:p>
                  </a:txBody>
                  <a:tcPr marL="3338" marR="3338" marT="3338" marB="3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66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54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STACK</a:t>
            </a:r>
            <a:r>
              <a:rPr spc="320" dirty="0"/>
              <a:t> </a:t>
            </a:r>
            <a:r>
              <a:rPr spc="65" dirty="0"/>
              <a:t>TECNOLÓGICO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8660" y="621665"/>
            <a:ext cx="5003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3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/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CCCCCC"/>
                </a:solidFill>
                <a:latin typeface="Arial MT"/>
                <a:cs typeface="Arial MT"/>
              </a:rPr>
              <a:t>4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599" y="1162049"/>
            <a:ext cx="2562225" cy="590550"/>
            <a:chOff x="609599" y="1162049"/>
            <a:chExt cx="2562225" cy="590550"/>
          </a:xfrm>
        </p:grpSpPr>
        <p:sp>
          <p:nvSpPr>
            <p:cNvPr id="5" name="object 5"/>
            <p:cNvSpPr/>
            <p:nvPr/>
          </p:nvSpPr>
          <p:spPr>
            <a:xfrm>
              <a:off x="614362" y="1166812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2468153" y="581023"/>
                  </a:moveTo>
                  <a:lnTo>
                    <a:pt x="84546" y="581023"/>
                  </a:lnTo>
                  <a:lnTo>
                    <a:pt x="78661" y="580442"/>
                  </a:lnTo>
                  <a:lnTo>
                    <a:pt x="35275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5" y="11947"/>
                  </a:lnTo>
                  <a:lnTo>
                    <a:pt x="84546" y="0"/>
                  </a:lnTo>
                  <a:lnTo>
                    <a:pt x="2468153" y="0"/>
                  </a:lnTo>
                  <a:lnTo>
                    <a:pt x="2507544" y="11947"/>
                  </a:lnTo>
                  <a:lnTo>
                    <a:pt x="2540750" y="45152"/>
                  </a:lnTo>
                  <a:lnTo>
                    <a:pt x="2552699" y="84544"/>
                  </a:lnTo>
                  <a:lnTo>
                    <a:pt x="2552699" y="496477"/>
                  </a:lnTo>
                  <a:lnTo>
                    <a:pt x="2540750" y="535865"/>
                  </a:lnTo>
                  <a:lnTo>
                    <a:pt x="2507544" y="569072"/>
                  </a:lnTo>
                  <a:lnTo>
                    <a:pt x="2474038" y="580442"/>
                  </a:lnTo>
                  <a:lnTo>
                    <a:pt x="2468153" y="581023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4362" y="1166811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18550" y="35272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80"/>
                  </a:lnTo>
                  <a:lnTo>
                    <a:pt x="84546" y="0"/>
                  </a:lnTo>
                  <a:lnTo>
                    <a:pt x="90487" y="0"/>
                  </a:lnTo>
                  <a:lnTo>
                    <a:pt x="2462212" y="0"/>
                  </a:lnTo>
                  <a:lnTo>
                    <a:pt x="2468153" y="0"/>
                  </a:lnTo>
                  <a:lnTo>
                    <a:pt x="2474038" y="580"/>
                  </a:lnTo>
                  <a:lnTo>
                    <a:pt x="2479865" y="1738"/>
                  </a:lnTo>
                  <a:lnTo>
                    <a:pt x="2485692" y="2896"/>
                  </a:lnTo>
                  <a:lnTo>
                    <a:pt x="2512484" y="15249"/>
                  </a:lnTo>
                  <a:lnTo>
                    <a:pt x="2517424" y="18549"/>
                  </a:lnTo>
                  <a:lnTo>
                    <a:pt x="2537449" y="40212"/>
                  </a:lnTo>
                  <a:lnTo>
                    <a:pt x="2540750" y="45153"/>
                  </a:lnTo>
                  <a:lnTo>
                    <a:pt x="2543537" y="50368"/>
                  </a:lnTo>
                  <a:lnTo>
                    <a:pt x="2545811" y="55857"/>
                  </a:lnTo>
                  <a:lnTo>
                    <a:pt x="2548085" y="61346"/>
                  </a:lnTo>
                  <a:lnTo>
                    <a:pt x="2552699" y="90487"/>
                  </a:lnTo>
                  <a:lnTo>
                    <a:pt x="2552699" y="490537"/>
                  </a:lnTo>
                  <a:lnTo>
                    <a:pt x="2545811" y="525161"/>
                  </a:lnTo>
                  <a:lnTo>
                    <a:pt x="2543537" y="530651"/>
                  </a:lnTo>
                  <a:lnTo>
                    <a:pt x="2540750" y="535865"/>
                  </a:lnTo>
                  <a:lnTo>
                    <a:pt x="2537449" y="540806"/>
                  </a:lnTo>
                  <a:lnTo>
                    <a:pt x="2534148" y="545747"/>
                  </a:lnTo>
                  <a:lnTo>
                    <a:pt x="2502329" y="571859"/>
                  </a:lnTo>
                  <a:lnTo>
                    <a:pt x="2479865" y="579284"/>
                  </a:lnTo>
                  <a:lnTo>
                    <a:pt x="2474038" y="580443"/>
                  </a:lnTo>
                  <a:lnTo>
                    <a:pt x="2468153" y="581024"/>
                  </a:lnTo>
                  <a:lnTo>
                    <a:pt x="2462212" y="581024"/>
                  </a:lnTo>
                  <a:lnTo>
                    <a:pt x="90487" y="581024"/>
                  </a:lnTo>
                  <a:lnTo>
                    <a:pt x="84546" y="581024"/>
                  </a:lnTo>
                  <a:lnTo>
                    <a:pt x="78661" y="580443"/>
                  </a:lnTo>
                  <a:lnTo>
                    <a:pt x="72834" y="579284"/>
                  </a:lnTo>
                  <a:lnTo>
                    <a:pt x="67006" y="578125"/>
                  </a:lnTo>
                  <a:lnTo>
                    <a:pt x="61348" y="576409"/>
                  </a:lnTo>
                  <a:lnTo>
                    <a:pt x="55859" y="574134"/>
                  </a:lnTo>
                  <a:lnTo>
                    <a:pt x="50370" y="571859"/>
                  </a:lnTo>
                  <a:lnTo>
                    <a:pt x="45155" y="569072"/>
                  </a:lnTo>
                  <a:lnTo>
                    <a:pt x="40215" y="565772"/>
                  </a:lnTo>
                  <a:lnTo>
                    <a:pt x="35275" y="562472"/>
                  </a:lnTo>
                  <a:lnTo>
                    <a:pt x="15249" y="540807"/>
                  </a:lnTo>
                  <a:lnTo>
                    <a:pt x="11948" y="535866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2481" y="1322387"/>
              <a:ext cx="243204" cy="269875"/>
            </a:xfrm>
            <a:custGeom>
              <a:avLst/>
              <a:gdLst/>
              <a:ahLst/>
              <a:cxnLst/>
              <a:rect l="l" t="t" r="r" b="b"/>
              <a:pathLst>
                <a:path w="243205" h="269875">
                  <a:moveTo>
                    <a:pt x="121443" y="0"/>
                  </a:moveTo>
                  <a:lnTo>
                    <a:pt x="0" y="67468"/>
                  </a:lnTo>
                  <a:lnTo>
                    <a:pt x="0" y="202406"/>
                  </a:lnTo>
                  <a:lnTo>
                    <a:pt x="121443" y="269874"/>
                  </a:lnTo>
                  <a:lnTo>
                    <a:pt x="242887" y="202406"/>
                  </a:lnTo>
                  <a:lnTo>
                    <a:pt x="242887" y="67468"/>
                  </a:lnTo>
                  <a:lnTo>
                    <a:pt x="121443" y="0"/>
                  </a:lnTo>
                  <a:close/>
                </a:path>
              </a:pathLst>
            </a:custGeom>
            <a:ln w="20240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0262" y="1417669"/>
            <a:ext cx="10795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b="1" spc="-25" dirty="0">
                <a:solidFill>
                  <a:srgbClr val="111111"/>
                </a:solidFill>
                <a:latin typeface="Arial"/>
                <a:cs typeface="Arial"/>
              </a:rPr>
              <a:t>JS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7449" y="1283543"/>
            <a:ext cx="1016000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Node.js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Backend</a:t>
            </a:r>
            <a:r>
              <a:rPr sz="800" spc="70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·</a:t>
            </a:r>
            <a:r>
              <a:rPr sz="800" spc="1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API</a:t>
            </a:r>
            <a:r>
              <a:rPr sz="800" spc="7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 MT"/>
                <a:cs typeface="Arial MT"/>
              </a:rPr>
              <a:t>REST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86124" y="1162049"/>
            <a:ext cx="2571750" cy="590550"/>
            <a:chOff x="3286124" y="1162049"/>
            <a:chExt cx="2571750" cy="590550"/>
          </a:xfrm>
        </p:grpSpPr>
        <p:sp>
          <p:nvSpPr>
            <p:cNvPr id="11" name="object 11"/>
            <p:cNvSpPr/>
            <p:nvPr/>
          </p:nvSpPr>
          <p:spPr>
            <a:xfrm>
              <a:off x="3290887" y="1166812"/>
              <a:ext cx="2562225" cy="581025"/>
            </a:xfrm>
            <a:custGeom>
              <a:avLst/>
              <a:gdLst/>
              <a:ahLst/>
              <a:cxnLst/>
              <a:rect l="l" t="t" r="r" b="b"/>
              <a:pathLst>
                <a:path w="2562225" h="581025">
                  <a:moveTo>
                    <a:pt x="2477678" y="581023"/>
                  </a:moveTo>
                  <a:lnTo>
                    <a:pt x="84545" y="581023"/>
                  </a:lnTo>
                  <a:lnTo>
                    <a:pt x="78661" y="580442"/>
                  </a:lnTo>
                  <a:lnTo>
                    <a:pt x="35275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5" y="11947"/>
                  </a:lnTo>
                  <a:lnTo>
                    <a:pt x="84545" y="0"/>
                  </a:lnTo>
                  <a:lnTo>
                    <a:pt x="2477678" y="0"/>
                  </a:lnTo>
                  <a:lnTo>
                    <a:pt x="2517068" y="11947"/>
                  </a:lnTo>
                  <a:lnTo>
                    <a:pt x="2550274" y="45152"/>
                  </a:lnTo>
                  <a:lnTo>
                    <a:pt x="2562224" y="84544"/>
                  </a:lnTo>
                  <a:lnTo>
                    <a:pt x="2562224" y="496477"/>
                  </a:lnTo>
                  <a:lnTo>
                    <a:pt x="2550274" y="535865"/>
                  </a:lnTo>
                  <a:lnTo>
                    <a:pt x="2517068" y="569072"/>
                  </a:lnTo>
                  <a:lnTo>
                    <a:pt x="2483562" y="580442"/>
                  </a:lnTo>
                  <a:lnTo>
                    <a:pt x="2477678" y="581023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90887" y="1166811"/>
              <a:ext cx="2562225" cy="581025"/>
            </a:xfrm>
            <a:custGeom>
              <a:avLst/>
              <a:gdLst/>
              <a:ahLst/>
              <a:cxnLst/>
              <a:rect l="l" t="t" r="r" b="b"/>
              <a:pathLst>
                <a:path w="2562225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80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2471737" y="0"/>
                  </a:lnTo>
                  <a:lnTo>
                    <a:pt x="2511853" y="9160"/>
                  </a:lnTo>
                  <a:lnTo>
                    <a:pt x="2522008" y="15249"/>
                  </a:lnTo>
                  <a:lnTo>
                    <a:pt x="2526948" y="18549"/>
                  </a:lnTo>
                  <a:lnTo>
                    <a:pt x="2546973" y="40212"/>
                  </a:lnTo>
                  <a:lnTo>
                    <a:pt x="2550274" y="45153"/>
                  </a:lnTo>
                  <a:lnTo>
                    <a:pt x="2562224" y="84545"/>
                  </a:lnTo>
                  <a:lnTo>
                    <a:pt x="2562224" y="90487"/>
                  </a:lnTo>
                  <a:lnTo>
                    <a:pt x="2562224" y="490537"/>
                  </a:lnTo>
                  <a:lnTo>
                    <a:pt x="2553061" y="530651"/>
                  </a:lnTo>
                  <a:lnTo>
                    <a:pt x="2546973" y="540806"/>
                  </a:lnTo>
                  <a:lnTo>
                    <a:pt x="2543673" y="545747"/>
                  </a:lnTo>
                  <a:lnTo>
                    <a:pt x="2511853" y="571859"/>
                  </a:lnTo>
                  <a:lnTo>
                    <a:pt x="2471737" y="581024"/>
                  </a:lnTo>
                  <a:lnTo>
                    <a:pt x="90487" y="581024"/>
                  </a:lnTo>
                  <a:lnTo>
                    <a:pt x="84545" y="581024"/>
                  </a:lnTo>
                  <a:lnTo>
                    <a:pt x="78661" y="580443"/>
                  </a:lnTo>
                  <a:lnTo>
                    <a:pt x="72834" y="579284"/>
                  </a:lnTo>
                  <a:lnTo>
                    <a:pt x="67006" y="578125"/>
                  </a:lnTo>
                  <a:lnTo>
                    <a:pt x="40215" y="565772"/>
                  </a:lnTo>
                  <a:lnTo>
                    <a:pt x="35275" y="562472"/>
                  </a:lnTo>
                  <a:lnTo>
                    <a:pt x="9161" y="530651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9005" y="1335881"/>
              <a:ext cx="243204" cy="243204"/>
            </a:xfrm>
            <a:custGeom>
              <a:avLst/>
              <a:gdLst/>
              <a:ahLst/>
              <a:cxnLst/>
              <a:rect l="l" t="t" r="r" b="b"/>
              <a:pathLst>
                <a:path w="243204" h="243205">
                  <a:moveTo>
                    <a:pt x="40481" y="0"/>
                  </a:moveTo>
                  <a:lnTo>
                    <a:pt x="202406" y="0"/>
                  </a:lnTo>
                  <a:lnTo>
                    <a:pt x="207774" y="0"/>
                  </a:lnTo>
                  <a:lnTo>
                    <a:pt x="212938" y="1027"/>
                  </a:lnTo>
                  <a:lnTo>
                    <a:pt x="217897" y="3081"/>
                  </a:lnTo>
                  <a:lnTo>
                    <a:pt x="222857" y="5135"/>
                  </a:lnTo>
                  <a:lnTo>
                    <a:pt x="227234" y="8060"/>
                  </a:lnTo>
                  <a:lnTo>
                    <a:pt x="231030" y="11856"/>
                  </a:lnTo>
                  <a:lnTo>
                    <a:pt x="234826" y="15652"/>
                  </a:lnTo>
                  <a:lnTo>
                    <a:pt x="237751" y="20030"/>
                  </a:lnTo>
                  <a:lnTo>
                    <a:pt x="239805" y="24989"/>
                  </a:lnTo>
                  <a:lnTo>
                    <a:pt x="241860" y="29949"/>
                  </a:lnTo>
                  <a:lnTo>
                    <a:pt x="242887" y="35113"/>
                  </a:lnTo>
                  <a:lnTo>
                    <a:pt x="242887" y="40481"/>
                  </a:lnTo>
                  <a:lnTo>
                    <a:pt x="242887" y="202406"/>
                  </a:lnTo>
                  <a:lnTo>
                    <a:pt x="242887" y="207774"/>
                  </a:lnTo>
                  <a:lnTo>
                    <a:pt x="241860" y="212938"/>
                  </a:lnTo>
                  <a:lnTo>
                    <a:pt x="239805" y="217897"/>
                  </a:lnTo>
                  <a:lnTo>
                    <a:pt x="237751" y="222857"/>
                  </a:lnTo>
                  <a:lnTo>
                    <a:pt x="217897" y="239805"/>
                  </a:lnTo>
                  <a:lnTo>
                    <a:pt x="212938" y="241860"/>
                  </a:lnTo>
                  <a:lnTo>
                    <a:pt x="207774" y="242887"/>
                  </a:lnTo>
                  <a:lnTo>
                    <a:pt x="202406" y="242887"/>
                  </a:lnTo>
                  <a:lnTo>
                    <a:pt x="40481" y="242887"/>
                  </a:lnTo>
                  <a:lnTo>
                    <a:pt x="35113" y="242887"/>
                  </a:lnTo>
                  <a:lnTo>
                    <a:pt x="29949" y="241860"/>
                  </a:lnTo>
                  <a:lnTo>
                    <a:pt x="24989" y="239805"/>
                  </a:lnTo>
                  <a:lnTo>
                    <a:pt x="20030" y="237751"/>
                  </a:lnTo>
                  <a:lnTo>
                    <a:pt x="3081" y="217897"/>
                  </a:lnTo>
                  <a:lnTo>
                    <a:pt x="1027" y="212938"/>
                  </a:lnTo>
                  <a:lnTo>
                    <a:pt x="0" y="207774"/>
                  </a:lnTo>
                  <a:lnTo>
                    <a:pt x="0" y="202406"/>
                  </a:lnTo>
                  <a:lnTo>
                    <a:pt x="0" y="40481"/>
                  </a:lnTo>
                  <a:lnTo>
                    <a:pt x="20030" y="5135"/>
                  </a:lnTo>
                  <a:lnTo>
                    <a:pt x="35113" y="0"/>
                  </a:lnTo>
                  <a:lnTo>
                    <a:pt x="40481" y="0"/>
                  </a:lnTo>
                  <a:close/>
                </a:path>
              </a:pathLst>
            </a:custGeom>
            <a:ln w="20240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86546" y="1397476"/>
            <a:ext cx="201295" cy="1308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50" b="1" spc="-25" dirty="0">
                <a:solidFill>
                  <a:srgbClr val="111111"/>
                </a:solidFill>
                <a:latin typeface="Arial"/>
                <a:cs typeface="Arial"/>
              </a:rPr>
              <a:t>EXP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7100" y="1283543"/>
            <a:ext cx="867410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Express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Framework</a:t>
            </a:r>
            <a:r>
              <a:rPr sz="800" spc="18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999999"/>
                </a:solidFill>
                <a:latin typeface="Arial MT"/>
                <a:cs typeface="Arial MT"/>
              </a:rPr>
              <a:t>HTTP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72174" y="1162049"/>
            <a:ext cx="2562225" cy="590550"/>
            <a:chOff x="5972174" y="1162049"/>
            <a:chExt cx="2562225" cy="590550"/>
          </a:xfrm>
        </p:grpSpPr>
        <p:sp>
          <p:nvSpPr>
            <p:cNvPr id="17" name="object 17"/>
            <p:cNvSpPr/>
            <p:nvPr/>
          </p:nvSpPr>
          <p:spPr>
            <a:xfrm>
              <a:off x="5976937" y="1166812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2468153" y="581023"/>
                  </a:moveTo>
                  <a:lnTo>
                    <a:pt x="84545" y="581023"/>
                  </a:lnTo>
                  <a:lnTo>
                    <a:pt x="78660" y="580442"/>
                  </a:lnTo>
                  <a:lnTo>
                    <a:pt x="35274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4" y="11947"/>
                  </a:lnTo>
                  <a:lnTo>
                    <a:pt x="84545" y="0"/>
                  </a:lnTo>
                  <a:lnTo>
                    <a:pt x="2468153" y="0"/>
                  </a:lnTo>
                  <a:lnTo>
                    <a:pt x="2507543" y="11947"/>
                  </a:lnTo>
                  <a:lnTo>
                    <a:pt x="2540749" y="45152"/>
                  </a:lnTo>
                  <a:lnTo>
                    <a:pt x="2552699" y="84544"/>
                  </a:lnTo>
                  <a:lnTo>
                    <a:pt x="2552699" y="496477"/>
                  </a:lnTo>
                  <a:lnTo>
                    <a:pt x="2540749" y="535865"/>
                  </a:lnTo>
                  <a:lnTo>
                    <a:pt x="2507543" y="569072"/>
                  </a:lnTo>
                  <a:lnTo>
                    <a:pt x="2474037" y="580442"/>
                  </a:lnTo>
                  <a:lnTo>
                    <a:pt x="2468153" y="581023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6937" y="1166811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18550" y="35272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2462212" y="0"/>
                  </a:lnTo>
                  <a:lnTo>
                    <a:pt x="2468153" y="0"/>
                  </a:lnTo>
                  <a:lnTo>
                    <a:pt x="2474038" y="580"/>
                  </a:lnTo>
                  <a:lnTo>
                    <a:pt x="2479865" y="1738"/>
                  </a:lnTo>
                  <a:lnTo>
                    <a:pt x="2485692" y="2896"/>
                  </a:lnTo>
                  <a:lnTo>
                    <a:pt x="2512483" y="15249"/>
                  </a:lnTo>
                  <a:lnTo>
                    <a:pt x="2517423" y="18549"/>
                  </a:lnTo>
                  <a:lnTo>
                    <a:pt x="2543536" y="50368"/>
                  </a:lnTo>
                  <a:lnTo>
                    <a:pt x="2552699" y="84545"/>
                  </a:lnTo>
                  <a:lnTo>
                    <a:pt x="2552699" y="90487"/>
                  </a:lnTo>
                  <a:lnTo>
                    <a:pt x="2552699" y="490537"/>
                  </a:lnTo>
                  <a:lnTo>
                    <a:pt x="2552699" y="496478"/>
                  </a:lnTo>
                  <a:lnTo>
                    <a:pt x="2552120" y="502360"/>
                  </a:lnTo>
                  <a:lnTo>
                    <a:pt x="2537449" y="540806"/>
                  </a:lnTo>
                  <a:lnTo>
                    <a:pt x="2507543" y="569072"/>
                  </a:lnTo>
                  <a:lnTo>
                    <a:pt x="2479864" y="579284"/>
                  </a:lnTo>
                  <a:lnTo>
                    <a:pt x="2474037" y="580443"/>
                  </a:lnTo>
                  <a:lnTo>
                    <a:pt x="2468153" y="581024"/>
                  </a:lnTo>
                  <a:lnTo>
                    <a:pt x="2462212" y="581024"/>
                  </a:lnTo>
                  <a:lnTo>
                    <a:pt x="90487" y="581024"/>
                  </a:lnTo>
                  <a:lnTo>
                    <a:pt x="55858" y="574134"/>
                  </a:lnTo>
                  <a:lnTo>
                    <a:pt x="50369" y="571859"/>
                  </a:lnTo>
                  <a:lnTo>
                    <a:pt x="18550" y="545748"/>
                  </a:lnTo>
                  <a:lnTo>
                    <a:pt x="15249" y="540807"/>
                  </a:lnTo>
                  <a:lnTo>
                    <a:pt x="11948" y="535866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9031" y="1322387"/>
              <a:ext cx="135255" cy="269875"/>
            </a:xfrm>
            <a:custGeom>
              <a:avLst/>
              <a:gdLst/>
              <a:ahLst/>
              <a:cxnLst/>
              <a:rect l="l" t="t" r="r" b="b"/>
              <a:pathLst>
                <a:path w="135254" h="269875">
                  <a:moveTo>
                    <a:pt x="67468" y="0"/>
                  </a:moveTo>
                  <a:lnTo>
                    <a:pt x="39848" y="43116"/>
                  </a:lnTo>
                  <a:lnTo>
                    <a:pt x="18553" y="81805"/>
                  </a:lnTo>
                  <a:lnTo>
                    <a:pt x="0" y="148431"/>
                  </a:lnTo>
                  <a:lnTo>
                    <a:pt x="0" y="152861"/>
                  </a:lnTo>
                  <a:lnTo>
                    <a:pt x="432" y="157248"/>
                  </a:lnTo>
                  <a:lnTo>
                    <a:pt x="16628" y="193006"/>
                  </a:lnTo>
                  <a:lnTo>
                    <a:pt x="29985" y="204529"/>
                  </a:lnTo>
                  <a:lnTo>
                    <a:pt x="33668" y="206990"/>
                  </a:lnTo>
                  <a:lnTo>
                    <a:pt x="54306" y="214603"/>
                  </a:lnTo>
                  <a:lnTo>
                    <a:pt x="58651" y="215467"/>
                  </a:lnTo>
                  <a:lnTo>
                    <a:pt x="63038" y="215899"/>
                  </a:lnTo>
                  <a:lnTo>
                    <a:pt x="67468" y="215899"/>
                  </a:lnTo>
                  <a:lnTo>
                    <a:pt x="71898" y="215899"/>
                  </a:lnTo>
                  <a:lnTo>
                    <a:pt x="76286" y="215467"/>
                  </a:lnTo>
                  <a:lnTo>
                    <a:pt x="80631" y="214603"/>
                  </a:lnTo>
                  <a:lnTo>
                    <a:pt x="84976" y="213739"/>
                  </a:lnTo>
                  <a:lnTo>
                    <a:pt x="118308" y="193006"/>
                  </a:lnTo>
                  <a:lnTo>
                    <a:pt x="134505" y="157248"/>
                  </a:lnTo>
                  <a:lnTo>
                    <a:pt x="134937" y="148431"/>
                  </a:lnTo>
                  <a:lnTo>
                    <a:pt x="130088" y="116699"/>
                  </a:lnTo>
                  <a:lnTo>
                    <a:pt x="116383" y="81805"/>
                  </a:lnTo>
                  <a:lnTo>
                    <a:pt x="95088" y="43116"/>
                  </a:lnTo>
                  <a:lnTo>
                    <a:pt x="67468" y="0"/>
                  </a:lnTo>
                  <a:close/>
                </a:path>
                <a:path w="135254" h="269875">
                  <a:moveTo>
                    <a:pt x="67468" y="215899"/>
                  </a:moveTo>
                  <a:lnTo>
                    <a:pt x="67468" y="269874"/>
                  </a:lnTo>
                </a:path>
              </a:pathLst>
            </a:custGeom>
            <a:ln w="20240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46750" y="1283543"/>
            <a:ext cx="1087120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MongoDB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Base</a:t>
            </a:r>
            <a:r>
              <a:rPr sz="800" spc="60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de</a:t>
            </a:r>
            <a:r>
              <a:rPr sz="800" spc="6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datos</a:t>
            </a:r>
            <a:r>
              <a:rPr sz="800" spc="6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999999"/>
                </a:solidFill>
                <a:latin typeface="Arial MT"/>
                <a:cs typeface="Arial MT"/>
              </a:rPr>
              <a:t>NoSQL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9599" y="1866899"/>
            <a:ext cx="2562225" cy="590550"/>
            <a:chOff x="609599" y="1866899"/>
            <a:chExt cx="2562225" cy="590550"/>
          </a:xfrm>
        </p:grpSpPr>
        <p:sp>
          <p:nvSpPr>
            <p:cNvPr id="22" name="object 22"/>
            <p:cNvSpPr/>
            <p:nvPr/>
          </p:nvSpPr>
          <p:spPr>
            <a:xfrm>
              <a:off x="614362" y="1871662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2468153" y="581024"/>
                  </a:moveTo>
                  <a:lnTo>
                    <a:pt x="84546" y="581024"/>
                  </a:lnTo>
                  <a:lnTo>
                    <a:pt x="78661" y="580443"/>
                  </a:lnTo>
                  <a:lnTo>
                    <a:pt x="35275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5" y="11947"/>
                  </a:lnTo>
                  <a:lnTo>
                    <a:pt x="84546" y="0"/>
                  </a:lnTo>
                  <a:lnTo>
                    <a:pt x="2468153" y="0"/>
                  </a:lnTo>
                  <a:lnTo>
                    <a:pt x="2507544" y="11946"/>
                  </a:lnTo>
                  <a:lnTo>
                    <a:pt x="2540750" y="45152"/>
                  </a:lnTo>
                  <a:lnTo>
                    <a:pt x="2552699" y="84544"/>
                  </a:lnTo>
                  <a:lnTo>
                    <a:pt x="2552699" y="496477"/>
                  </a:lnTo>
                  <a:lnTo>
                    <a:pt x="2540750" y="535865"/>
                  </a:lnTo>
                  <a:lnTo>
                    <a:pt x="2507544" y="569072"/>
                  </a:lnTo>
                  <a:lnTo>
                    <a:pt x="2474038" y="580443"/>
                  </a:lnTo>
                  <a:lnTo>
                    <a:pt x="2468153" y="58102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4362" y="1871661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18550" y="35272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6" y="0"/>
                  </a:lnTo>
                  <a:lnTo>
                    <a:pt x="90487" y="0"/>
                  </a:lnTo>
                  <a:lnTo>
                    <a:pt x="2462212" y="0"/>
                  </a:lnTo>
                  <a:lnTo>
                    <a:pt x="2468153" y="0"/>
                  </a:lnTo>
                  <a:lnTo>
                    <a:pt x="2474038" y="580"/>
                  </a:lnTo>
                  <a:lnTo>
                    <a:pt x="2479865" y="1738"/>
                  </a:lnTo>
                  <a:lnTo>
                    <a:pt x="2485692" y="2896"/>
                  </a:lnTo>
                  <a:lnTo>
                    <a:pt x="2521995" y="22300"/>
                  </a:lnTo>
                  <a:lnTo>
                    <a:pt x="2537449" y="40212"/>
                  </a:lnTo>
                  <a:lnTo>
                    <a:pt x="2540750" y="45153"/>
                  </a:lnTo>
                  <a:lnTo>
                    <a:pt x="2543537" y="50368"/>
                  </a:lnTo>
                  <a:lnTo>
                    <a:pt x="2545811" y="55857"/>
                  </a:lnTo>
                  <a:lnTo>
                    <a:pt x="2548085" y="61346"/>
                  </a:lnTo>
                  <a:lnTo>
                    <a:pt x="2552699" y="90487"/>
                  </a:lnTo>
                  <a:lnTo>
                    <a:pt x="2552699" y="490537"/>
                  </a:lnTo>
                  <a:lnTo>
                    <a:pt x="2543537" y="530651"/>
                  </a:lnTo>
                  <a:lnTo>
                    <a:pt x="2537449" y="540806"/>
                  </a:lnTo>
                  <a:lnTo>
                    <a:pt x="2534148" y="545747"/>
                  </a:lnTo>
                  <a:lnTo>
                    <a:pt x="2502329" y="571859"/>
                  </a:lnTo>
                  <a:lnTo>
                    <a:pt x="2479865" y="579284"/>
                  </a:lnTo>
                  <a:lnTo>
                    <a:pt x="2474038" y="580444"/>
                  </a:lnTo>
                  <a:lnTo>
                    <a:pt x="2468153" y="581024"/>
                  </a:lnTo>
                  <a:lnTo>
                    <a:pt x="2462212" y="581024"/>
                  </a:lnTo>
                  <a:lnTo>
                    <a:pt x="90487" y="581024"/>
                  </a:lnTo>
                  <a:lnTo>
                    <a:pt x="84546" y="581024"/>
                  </a:lnTo>
                  <a:lnTo>
                    <a:pt x="78661" y="580444"/>
                  </a:lnTo>
                  <a:lnTo>
                    <a:pt x="72834" y="579284"/>
                  </a:lnTo>
                  <a:lnTo>
                    <a:pt x="67006" y="578125"/>
                  </a:lnTo>
                  <a:lnTo>
                    <a:pt x="40215" y="565772"/>
                  </a:lnTo>
                  <a:lnTo>
                    <a:pt x="35275" y="562472"/>
                  </a:lnTo>
                  <a:lnTo>
                    <a:pt x="15249" y="540806"/>
                  </a:lnTo>
                  <a:lnTo>
                    <a:pt x="11948" y="535865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2481" y="2114946"/>
              <a:ext cx="243204" cy="94615"/>
            </a:xfrm>
            <a:custGeom>
              <a:avLst/>
              <a:gdLst/>
              <a:ahLst/>
              <a:cxnLst/>
              <a:rect l="l" t="t" r="r" b="b"/>
              <a:pathLst>
                <a:path w="243205" h="94614">
                  <a:moveTo>
                    <a:pt x="242887" y="47228"/>
                  </a:moveTo>
                  <a:lnTo>
                    <a:pt x="242887" y="50329"/>
                  </a:lnTo>
                  <a:lnTo>
                    <a:pt x="242109" y="53400"/>
                  </a:lnTo>
                  <a:lnTo>
                    <a:pt x="240553" y="56441"/>
                  </a:lnTo>
                  <a:lnTo>
                    <a:pt x="238998" y="59483"/>
                  </a:lnTo>
                  <a:lnTo>
                    <a:pt x="222420" y="73466"/>
                  </a:lnTo>
                  <a:lnTo>
                    <a:pt x="217990" y="76045"/>
                  </a:lnTo>
                  <a:lnTo>
                    <a:pt x="212955" y="78430"/>
                  </a:lnTo>
                  <a:lnTo>
                    <a:pt x="207317" y="80623"/>
                  </a:lnTo>
                  <a:lnTo>
                    <a:pt x="201678" y="82816"/>
                  </a:lnTo>
                  <a:lnTo>
                    <a:pt x="167918" y="90861"/>
                  </a:lnTo>
                  <a:lnTo>
                    <a:pt x="160551" y="92047"/>
                  </a:lnTo>
                  <a:lnTo>
                    <a:pt x="121443" y="94456"/>
                  </a:lnTo>
                  <a:lnTo>
                    <a:pt x="113469" y="94456"/>
                  </a:lnTo>
                  <a:lnTo>
                    <a:pt x="74969" y="90861"/>
                  </a:lnTo>
                  <a:lnTo>
                    <a:pt x="67602" y="89674"/>
                  </a:lnTo>
                  <a:lnTo>
                    <a:pt x="60603" y="88219"/>
                  </a:lnTo>
                  <a:lnTo>
                    <a:pt x="53973" y="86496"/>
                  </a:lnTo>
                  <a:lnTo>
                    <a:pt x="47342" y="84774"/>
                  </a:lnTo>
                  <a:lnTo>
                    <a:pt x="41208" y="82816"/>
                  </a:lnTo>
                  <a:lnTo>
                    <a:pt x="35570" y="80623"/>
                  </a:lnTo>
                  <a:lnTo>
                    <a:pt x="29931" y="78430"/>
                  </a:lnTo>
                  <a:lnTo>
                    <a:pt x="24897" y="76045"/>
                  </a:lnTo>
                  <a:lnTo>
                    <a:pt x="20466" y="73466"/>
                  </a:lnTo>
                  <a:lnTo>
                    <a:pt x="16036" y="70888"/>
                  </a:lnTo>
                  <a:lnTo>
                    <a:pt x="12295" y="68166"/>
                  </a:lnTo>
                  <a:lnTo>
                    <a:pt x="9244" y="65301"/>
                  </a:lnTo>
                  <a:lnTo>
                    <a:pt x="6192" y="62436"/>
                  </a:lnTo>
                  <a:lnTo>
                    <a:pt x="3889" y="59483"/>
                  </a:lnTo>
                  <a:lnTo>
                    <a:pt x="2333" y="56441"/>
                  </a:lnTo>
                  <a:lnTo>
                    <a:pt x="777" y="53400"/>
                  </a:lnTo>
                  <a:lnTo>
                    <a:pt x="0" y="50329"/>
                  </a:lnTo>
                  <a:lnTo>
                    <a:pt x="0" y="47228"/>
                  </a:lnTo>
                  <a:lnTo>
                    <a:pt x="0" y="44127"/>
                  </a:lnTo>
                  <a:lnTo>
                    <a:pt x="9244" y="29154"/>
                  </a:lnTo>
                  <a:lnTo>
                    <a:pt x="12295" y="26289"/>
                  </a:lnTo>
                  <a:lnTo>
                    <a:pt x="35570" y="13832"/>
                  </a:lnTo>
                  <a:lnTo>
                    <a:pt x="41208" y="11640"/>
                  </a:lnTo>
                  <a:lnTo>
                    <a:pt x="74969" y="3595"/>
                  </a:lnTo>
                  <a:lnTo>
                    <a:pt x="82336" y="2408"/>
                  </a:lnTo>
                  <a:lnTo>
                    <a:pt x="89930" y="1512"/>
                  </a:lnTo>
                  <a:lnTo>
                    <a:pt x="97751" y="907"/>
                  </a:lnTo>
                  <a:lnTo>
                    <a:pt x="105572" y="302"/>
                  </a:lnTo>
                  <a:lnTo>
                    <a:pt x="113469" y="0"/>
                  </a:lnTo>
                  <a:lnTo>
                    <a:pt x="121443" y="0"/>
                  </a:lnTo>
                  <a:lnTo>
                    <a:pt x="129417" y="0"/>
                  </a:lnTo>
                  <a:lnTo>
                    <a:pt x="137315" y="302"/>
                  </a:lnTo>
                  <a:lnTo>
                    <a:pt x="145136" y="907"/>
                  </a:lnTo>
                  <a:lnTo>
                    <a:pt x="152957" y="1512"/>
                  </a:lnTo>
                  <a:lnTo>
                    <a:pt x="195544" y="9682"/>
                  </a:lnTo>
                  <a:lnTo>
                    <a:pt x="230591" y="26289"/>
                  </a:lnTo>
                  <a:lnTo>
                    <a:pt x="240553" y="38014"/>
                  </a:lnTo>
                  <a:lnTo>
                    <a:pt x="242109" y="41055"/>
                  </a:lnTo>
                  <a:lnTo>
                    <a:pt x="242887" y="44127"/>
                  </a:lnTo>
                  <a:lnTo>
                    <a:pt x="242887" y="47228"/>
                  </a:lnTo>
                  <a:close/>
                </a:path>
              </a:pathLst>
            </a:custGeom>
            <a:ln w="18891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9" y="2044796"/>
              <a:ext cx="165350" cy="2347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187449" y="1988393"/>
            <a:ext cx="683895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React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Dashboard</a:t>
            </a:r>
            <a:r>
              <a:rPr sz="800" spc="15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999999"/>
                </a:solidFill>
                <a:latin typeface="Arial MT"/>
                <a:cs typeface="Arial MT"/>
              </a:rPr>
              <a:t>UI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86124" y="1866899"/>
            <a:ext cx="2571750" cy="590550"/>
            <a:chOff x="3286124" y="1866899"/>
            <a:chExt cx="2571750" cy="590550"/>
          </a:xfrm>
        </p:grpSpPr>
        <p:sp>
          <p:nvSpPr>
            <p:cNvPr id="28" name="object 28"/>
            <p:cNvSpPr/>
            <p:nvPr/>
          </p:nvSpPr>
          <p:spPr>
            <a:xfrm>
              <a:off x="3290887" y="1871662"/>
              <a:ext cx="2562225" cy="581025"/>
            </a:xfrm>
            <a:custGeom>
              <a:avLst/>
              <a:gdLst/>
              <a:ahLst/>
              <a:cxnLst/>
              <a:rect l="l" t="t" r="r" b="b"/>
              <a:pathLst>
                <a:path w="2562225" h="581025">
                  <a:moveTo>
                    <a:pt x="2477678" y="581024"/>
                  </a:moveTo>
                  <a:lnTo>
                    <a:pt x="84545" y="581024"/>
                  </a:lnTo>
                  <a:lnTo>
                    <a:pt x="78661" y="580443"/>
                  </a:lnTo>
                  <a:lnTo>
                    <a:pt x="35275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5" y="11947"/>
                  </a:lnTo>
                  <a:lnTo>
                    <a:pt x="84545" y="0"/>
                  </a:lnTo>
                  <a:lnTo>
                    <a:pt x="2477678" y="0"/>
                  </a:lnTo>
                  <a:lnTo>
                    <a:pt x="2517068" y="11946"/>
                  </a:lnTo>
                  <a:lnTo>
                    <a:pt x="2550274" y="45152"/>
                  </a:lnTo>
                  <a:lnTo>
                    <a:pt x="2562224" y="84544"/>
                  </a:lnTo>
                  <a:lnTo>
                    <a:pt x="2562224" y="496477"/>
                  </a:lnTo>
                  <a:lnTo>
                    <a:pt x="2550274" y="535865"/>
                  </a:lnTo>
                  <a:lnTo>
                    <a:pt x="2517068" y="569072"/>
                  </a:lnTo>
                  <a:lnTo>
                    <a:pt x="2483562" y="580443"/>
                  </a:lnTo>
                  <a:lnTo>
                    <a:pt x="2477678" y="58102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90887" y="1871661"/>
              <a:ext cx="2562225" cy="581025"/>
            </a:xfrm>
            <a:custGeom>
              <a:avLst/>
              <a:gdLst/>
              <a:ahLst/>
              <a:cxnLst/>
              <a:rect l="l" t="t" r="r" b="b"/>
              <a:pathLst>
                <a:path w="2562225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2471737" y="0"/>
                  </a:lnTo>
                  <a:lnTo>
                    <a:pt x="2511853" y="9160"/>
                  </a:lnTo>
                  <a:lnTo>
                    <a:pt x="2543673" y="35272"/>
                  </a:lnTo>
                  <a:lnTo>
                    <a:pt x="2546973" y="40212"/>
                  </a:lnTo>
                  <a:lnTo>
                    <a:pt x="2550274" y="45153"/>
                  </a:lnTo>
                  <a:lnTo>
                    <a:pt x="2562224" y="84545"/>
                  </a:lnTo>
                  <a:lnTo>
                    <a:pt x="2562224" y="90487"/>
                  </a:lnTo>
                  <a:lnTo>
                    <a:pt x="2562224" y="490537"/>
                  </a:lnTo>
                  <a:lnTo>
                    <a:pt x="2553061" y="530651"/>
                  </a:lnTo>
                  <a:lnTo>
                    <a:pt x="2546973" y="540806"/>
                  </a:lnTo>
                  <a:lnTo>
                    <a:pt x="2543673" y="545747"/>
                  </a:lnTo>
                  <a:lnTo>
                    <a:pt x="2511853" y="571859"/>
                  </a:lnTo>
                  <a:lnTo>
                    <a:pt x="2489390" y="579284"/>
                  </a:lnTo>
                  <a:lnTo>
                    <a:pt x="2483562" y="580444"/>
                  </a:lnTo>
                  <a:lnTo>
                    <a:pt x="2477678" y="581024"/>
                  </a:lnTo>
                  <a:lnTo>
                    <a:pt x="2471737" y="581024"/>
                  </a:lnTo>
                  <a:lnTo>
                    <a:pt x="90487" y="581024"/>
                  </a:lnTo>
                  <a:lnTo>
                    <a:pt x="84545" y="581024"/>
                  </a:lnTo>
                  <a:lnTo>
                    <a:pt x="78661" y="580444"/>
                  </a:lnTo>
                  <a:lnTo>
                    <a:pt x="72834" y="579284"/>
                  </a:lnTo>
                  <a:lnTo>
                    <a:pt x="67006" y="578125"/>
                  </a:lnTo>
                  <a:lnTo>
                    <a:pt x="40215" y="565772"/>
                  </a:lnTo>
                  <a:lnTo>
                    <a:pt x="35275" y="562472"/>
                  </a:lnTo>
                  <a:lnTo>
                    <a:pt x="9161" y="530651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066" y="2046803"/>
              <a:ext cx="281365" cy="21927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867100" y="1988393"/>
            <a:ext cx="1122680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Docker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Contenedores</a:t>
            </a:r>
            <a:r>
              <a:rPr sz="800" spc="105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·</a:t>
            </a:r>
            <a:r>
              <a:rPr sz="800" spc="110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999999"/>
                </a:solidFill>
                <a:latin typeface="Arial MT"/>
                <a:cs typeface="Arial MT"/>
              </a:rPr>
              <a:t>Deploy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72174" y="1866899"/>
            <a:ext cx="2562225" cy="590550"/>
            <a:chOff x="5972174" y="1866899"/>
            <a:chExt cx="2562225" cy="590550"/>
          </a:xfrm>
        </p:grpSpPr>
        <p:sp>
          <p:nvSpPr>
            <p:cNvPr id="33" name="object 33"/>
            <p:cNvSpPr/>
            <p:nvPr/>
          </p:nvSpPr>
          <p:spPr>
            <a:xfrm>
              <a:off x="5976937" y="1871662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2468153" y="581024"/>
                  </a:moveTo>
                  <a:lnTo>
                    <a:pt x="84545" y="581024"/>
                  </a:lnTo>
                  <a:lnTo>
                    <a:pt x="78660" y="580443"/>
                  </a:lnTo>
                  <a:lnTo>
                    <a:pt x="35274" y="562471"/>
                  </a:lnTo>
                  <a:lnTo>
                    <a:pt x="9161" y="530651"/>
                  </a:lnTo>
                  <a:lnTo>
                    <a:pt x="0" y="496477"/>
                  </a:lnTo>
                  <a:lnTo>
                    <a:pt x="0" y="490536"/>
                  </a:lnTo>
                  <a:lnTo>
                    <a:pt x="0" y="84544"/>
                  </a:lnTo>
                  <a:lnTo>
                    <a:pt x="11948" y="45152"/>
                  </a:lnTo>
                  <a:lnTo>
                    <a:pt x="45154" y="11947"/>
                  </a:lnTo>
                  <a:lnTo>
                    <a:pt x="84545" y="0"/>
                  </a:lnTo>
                  <a:lnTo>
                    <a:pt x="2468153" y="0"/>
                  </a:lnTo>
                  <a:lnTo>
                    <a:pt x="2507543" y="11946"/>
                  </a:lnTo>
                  <a:lnTo>
                    <a:pt x="2540749" y="45152"/>
                  </a:lnTo>
                  <a:lnTo>
                    <a:pt x="2552699" y="84544"/>
                  </a:lnTo>
                  <a:lnTo>
                    <a:pt x="2552699" y="496477"/>
                  </a:lnTo>
                  <a:lnTo>
                    <a:pt x="2540749" y="535865"/>
                  </a:lnTo>
                  <a:lnTo>
                    <a:pt x="2507543" y="569072"/>
                  </a:lnTo>
                  <a:lnTo>
                    <a:pt x="2474037" y="580443"/>
                  </a:lnTo>
                  <a:lnTo>
                    <a:pt x="2468153" y="58102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76937" y="1871661"/>
              <a:ext cx="2552700" cy="581025"/>
            </a:xfrm>
            <a:custGeom>
              <a:avLst/>
              <a:gdLst/>
              <a:ahLst/>
              <a:cxnLst/>
              <a:rect l="l" t="t" r="r" b="b"/>
              <a:pathLst>
                <a:path w="2552700" h="581025">
                  <a:moveTo>
                    <a:pt x="0" y="49053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2"/>
                  </a:lnTo>
                  <a:lnTo>
                    <a:pt x="18550" y="35272"/>
                  </a:lnTo>
                  <a:lnTo>
                    <a:pt x="40214" y="15249"/>
                  </a:lnTo>
                  <a:lnTo>
                    <a:pt x="45154" y="11948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2462212" y="0"/>
                  </a:lnTo>
                  <a:lnTo>
                    <a:pt x="2468153" y="0"/>
                  </a:lnTo>
                  <a:lnTo>
                    <a:pt x="2474038" y="580"/>
                  </a:lnTo>
                  <a:lnTo>
                    <a:pt x="2479865" y="1738"/>
                  </a:lnTo>
                  <a:lnTo>
                    <a:pt x="2485692" y="2896"/>
                  </a:lnTo>
                  <a:lnTo>
                    <a:pt x="2521994" y="22300"/>
                  </a:lnTo>
                  <a:lnTo>
                    <a:pt x="2545811" y="55857"/>
                  </a:lnTo>
                  <a:lnTo>
                    <a:pt x="2552699" y="84545"/>
                  </a:lnTo>
                  <a:lnTo>
                    <a:pt x="2552699" y="90487"/>
                  </a:lnTo>
                  <a:lnTo>
                    <a:pt x="2552699" y="490537"/>
                  </a:lnTo>
                  <a:lnTo>
                    <a:pt x="2552699" y="496478"/>
                  </a:lnTo>
                  <a:lnTo>
                    <a:pt x="2552120" y="502362"/>
                  </a:lnTo>
                  <a:lnTo>
                    <a:pt x="2537449" y="540806"/>
                  </a:lnTo>
                  <a:lnTo>
                    <a:pt x="2507543" y="569072"/>
                  </a:lnTo>
                  <a:lnTo>
                    <a:pt x="2479864" y="579284"/>
                  </a:lnTo>
                  <a:lnTo>
                    <a:pt x="2474037" y="580444"/>
                  </a:lnTo>
                  <a:lnTo>
                    <a:pt x="2468153" y="581024"/>
                  </a:lnTo>
                  <a:lnTo>
                    <a:pt x="2462212" y="581024"/>
                  </a:lnTo>
                  <a:lnTo>
                    <a:pt x="90487" y="581024"/>
                  </a:lnTo>
                  <a:lnTo>
                    <a:pt x="84545" y="581024"/>
                  </a:lnTo>
                  <a:lnTo>
                    <a:pt x="78660" y="580444"/>
                  </a:lnTo>
                  <a:lnTo>
                    <a:pt x="72833" y="579284"/>
                  </a:lnTo>
                  <a:lnTo>
                    <a:pt x="67006" y="578125"/>
                  </a:lnTo>
                  <a:lnTo>
                    <a:pt x="30703" y="558721"/>
                  </a:lnTo>
                  <a:lnTo>
                    <a:pt x="15249" y="540806"/>
                  </a:lnTo>
                  <a:lnTo>
                    <a:pt x="11948" y="535865"/>
                  </a:lnTo>
                  <a:lnTo>
                    <a:pt x="0" y="496478"/>
                  </a:lnTo>
                  <a:lnTo>
                    <a:pt x="0" y="490537"/>
                  </a:lnTo>
                  <a:close/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51562" y="2027237"/>
              <a:ext cx="269875" cy="269875"/>
            </a:xfrm>
            <a:custGeom>
              <a:avLst/>
              <a:gdLst/>
              <a:ahLst/>
              <a:cxnLst/>
              <a:rect l="l" t="t" r="r" b="b"/>
              <a:pathLst>
                <a:path w="269875" h="269875">
                  <a:moveTo>
                    <a:pt x="40481" y="0"/>
                  </a:moveTo>
                  <a:lnTo>
                    <a:pt x="229393" y="0"/>
                  </a:lnTo>
                  <a:lnTo>
                    <a:pt x="234761" y="0"/>
                  </a:lnTo>
                  <a:lnTo>
                    <a:pt x="239925" y="1027"/>
                  </a:lnTo>
                  <a:lnTo>
                    <a:pt x="244885" y="3081"/>
                  </a:lnTo>
                  <a:lnTo>
                    <a:pt x="249844" y="5135"/>
                  </a:lnTo>
                  <a:lnTo>
                    <a:pt x="254222" y="8060"/>
                  </a:lnTo>
                  <a:lnTo>
                    <a:pt x="269874" y="40481"/>
                  </a:lnTo>
                  <a:lnTo>
                    <a:pt x="269874" y="229393"/>
                  </a:lnTo>
                  <a:lnTo>
                    <a:pt x="269874" y="234761"/>
                  </a:lnTo>
                  <a:lnTo>
                    <a:pt x="268847" y="239925"/>
                  </a:lnTo>
                  <a:lnTo>
                    <a:pt x="266793" y="244885"/>
                  </a:lnTo>
                  <a:lnTo>
                    <a:pt x="264739" y="249844"/>
                  </a:lnTo>
                  <a:lnTo>
                    <a:pt x="244885" y="266793"/>
                  </a:lnTo>
                  <a:lnTo>
                    <a:pt x="239925" y="268847"/>
                  </a:lnTo>
                  <a:lnTo>
                    <a:pt x="234761" y="269874"/>
                  </a:lnTo>
                  <a:lnTo>
                    <a:pt x="229393" y="269874"/>
                  </a:lnTo>
                  <a:lnTo>
                    <a:pt x="40481" y="269874"/>
                  </a:lnTo>
                  <a:lnTo>
                    <a:pt x="5135" y="249844"/>
                  </a:lnTo>
                  <a:lnTo>
                    <a:pt x="3081" y="244885"/>
                  </a:lnTo>
                  <a:lnTo>
                    <a:pt x="1027" y="239925"/>
                  </a:lnTo>
                  <a:lnTo>
                    <a:pt x="0" y="234761"/>
                  </a:lnTo>
                  <a:lnTo>
                    <a:pt x="0" y="229393"/>
                  </a:lnTo>
                  <a:lnTo>
                    <a:pt x="0" y="40481"/>
                  </a:lnTo>
                  <a:lnTo>
                    <a:pt x="20030" y="5135"/>
                  </a:lnTo>
                  <a:lnTo>
                    <a:pt x="35113" y="0"/>
                  </a:lnTo>
                  <a:lnTo>
                    <a:pt x="40481" y="0"/>
                  </a:lnTo>
                  <a:close/>
                </a:path>
              </a:pathLst>
            </a:custGeom>
            <a:ln w="20240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72596" y="2088753"/>
            <a:ext cx="17399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-25" dirty="0">
                <a:solidFill>
                  <a:srgbClr val="111111"/>
                </a:solidFill>
                <a:latin typeface="Arial"/>
                <a:cs typeface="Arial"/>
              </a:rPr>
              <a:t>JS</a:t>
            </a:r>
            <a:endParaRPr sz="9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46750" y="1988393"/>
            <a:ext cx="784860" cy="3321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b="1" spc="-10" dirty="0">
                <a:solidFill>
                  <a:srgbClr val="111111"/>
                </a:solidFill>
                <a:latin typeface="Arial"/>
                <a:cs typeface="Arial"/>
              </a:rPr>
              <a:t>JavaScript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solidFill>
                  <a:srgbClr val="999999"/>
                </a:solidFill>
                <a:latin typeface="Arial MT"/>
                <a:cs typeface="Arial MT"/>
              </a:rPr>
              <a:t>Frontend</a:t>
            </a:r>
            <a:r>
              <a:rPr sz="800" spc="120" dirty="0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999999"/>
                </a:solidFill>
                <a:latin typeface="Arial MT"/>
                <a:cs typeface="Arial MT"/>
              </a:rPr>
              <a:t>vanilla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A836342-A029-9772-D874-D59F9AA5EA51}"/>
              </a:ext>
            </a:extLst>
          </p:cNvPr>
          <p:cNvSpPr txBox="1"/>
          <p:nvPr/>
        </p:nvSpPr>
        <p:spPr>
          <a:xfrm>
            <a:off x="1166601" y="3128844"/>
            <a:ext cx="7086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Node.js y Express para el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porque es rápido y fácil de usar para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. MongoDB porque cada usuario tiene datos distintos y con NoSQL no hay que estar ajustando tablas.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solo en el </a:t>
            </a: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del entrenador donde hay más complejidad, y JavaScript normal en el resto. Docker para que la aplicación funcione igual en cualquier máquina sin configurar nada.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45C3BF4-97FA-0AAC-FA46-F5AA9065D809}"/>
              </a:ext>
            </a:extLst>
          </p:cNvPr>
          <p:cNvSpPr txBox="1"/>
          <p:nvPr/>
        </p:nvSpPr>
        <p:spPr>
          <a:xfrm>
            <a:off x="685800" y="264795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Justificación: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60" dirty="0"/>
              <a:t>ESCALABILIDAD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8660" y="621665"/>
            <a:ext cx="5003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4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/</a:t>
            </a:r>
            <a:r>
              <a:rPr sz="750" spc="49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CCCCCC"/>
                </a:solidFill>
                <a:latin typeface="Arial MT"/>
                <a:cs typeface="Arial MT"/>
              </a:rPr>
              <a:t>0</a:t>
            </a:r>
            <a:r>
              <a:rPr sz="750" spc="20" dirty="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CCCCCC"/>
                </a:solidFill>
                <a:latin typeface="Arial MT"/>
                <a:cs typeface="Arial MT"/>
              </a:rPr>
              <a:t>4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171574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5890">
              <a:lnSpc>
                <a:spcPct val="125000"/>
              </a:lnSpc>
              <a:spcBef>
                <a:spcPts val="90"/>
              </a:spcBef>
            </a:pPr>
            <a:r>
              <a:rPr dirty="0"/>
              <a:t>Arquitectura</a:t>
            </a:r>
            <a:r>
              <a:rPr spc="100" dirty="0"/>
              <a:t> </a:t>
            </a:r>
            <a:r>
              <a:rPr b="1" dirty="0">
                <a:latin typeface="Arial"/>
                <a:cs typeface="Arial"/>
              </a:rPr>
              <a:t>modular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por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roles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dirty="0"/>
              <a:t>—</a:t>
            </a:r>
            <a:r>
              <a:rPr spc="105" dirty="0"/>
              <a:t> </a:t>
            </a:r>
            <a:r>
              <a:rPr dirty="0"/>
              <a:t>boxeador,</a:t>
            </a:r>
            <a:r>
              <a:rPr spc="100" dirty="0"/>
              <a:t> </a:t>
            </a:r>
            <a:r>
              <a:rPr dirty="0"/>
              <a:t>entrenador</a:t>
            </a:r>
            <a:r>
              <a:rPr spc="105" dirty="0"/>
              <a:t> </a:t>
            </a:r>
            <a:r>
              <a:rPr dirty="0"/>
              <a:t>y</a:t>
            </a:r>
            <a:r>
              <a:rPr spc="100" dirty="0"/>
              <a:t> </a:t>
            </a:r>
            <a:r>
              <a:rPr dirty="0"/>
              <a:t>gimnasio</a:t>
            </a:r>
            <a:r>
              <a:rPr spc="105" dirty="0"/>
              <a:t> </a:t>
            </a:r>
            <a:r>
              <a:rPr dirty="0"/>
              <a:t>—</a:t>
            </a:r>
            <a:r>
              <a:rPr spc="100" dirty="0"/>
              <a:t> </a:t>
            </a:r>
            <a:r>
              <a:rPr dirty="0"/>
              <a:t>adaptable</a:t>
            </a:r>
            <a:r>
              <a:rPr spc="105" dirty="0"/>
              <a:t> </a:t>
            </a:r>
            <a:r>
              <a:rPr dirty="0"/>
              <a:t>a</a:t>
            </a:r>
            <a:r>
              <a:rPr spc="100" dirty="0"/>
              <a:t> </a:t>
            </a:r>
            <a:r>
              <a:rPr dirty="0"/>
              <a:t>MMA,</a:t>
            </a:r>
            <a:r>
              <a:rPr spc="100" dirty="0"/>
              <a:t> </a:t>
            </a:r>
            <a:r>
              <a:rPr dirty="0"/>
              <a:t>Kickboxing</a:t>
            </a:r>
            <a:r>
              <a:rPr spc="105" dirty="0"/>
              <a:t> </a:t>
            </a:r>
            <a:r>
              <a:rPr dirty="0"/>
              <a:t>o</a:t>
            </a:r>
            <a:r>
              <a:rPr spc="100" dirty="0"/>
              <a:t> </a:t>
            </a:r>
            <a:r>
              <a:rPr dirty="0"/>
              <a:t>Muay</a:t>
            </a:r>
            <a:r>
              <a:rPr spc="80" dirty="0"/>
              <a:t> </a:t>
            </a:r>
            <a:r>
              <a:rPr spc="-20" dirty="0"/>
              <a:t>Thai </a:t>
            </a:r>
            <a:r>
              <a:rPr dirty="0"/>
              <a:t>sin</a:t>
            </a:r>
            <a:r>
              <a:rPr spc="40" dirty="0"/>
              <a:t> </a:t>
            </a:r>
            <a:r>
              <a:rPr spc="-10" dirty="0"/>
              <a:t>refactorización.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pc="-10" dirty="0"/>
          </a:p>
          <a:p>
            <a:pPr marL="12700" marR="458470">
              <a:lnSpc>
                <a:spcPct val="125000"/>
              </a:lnSpc>
            </a:pPr>
            <a:r>
              <a:rPr dirty="0"/>
              <a:t>API</a:t>
            </a:r>
            <a:r>
              <a:rPr spc="130" dirty="0"/>
              <a:t> </a:t>
            </a:r>
            <a:r>
              <a:rPr dirty="0"/>
              <a:t>REST</a:t>
            </a:r>
            <a:r>
              <a:rPr spc="100" dirty="0"/>
              <a:t> </a:t>
            </a:r>
            <a:r>
              <a:rPr b="1" dirty="0">
                <a:latin typeface="Arial"/>
                <a:cs typeface="Arial"/>
              </a:rPr>
              <a:t>completamente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desacoplada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del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frontend</a:t>
            </a:r>
            <a:r>
              <a:rPr dirty="0"/>
              <a:t>:</a:t>
            </a:r>
            <a:r>
              <a:rPr spc="130" dirty="0"/>
              <a:t> </a:t>
            </a:r>
            <a:r>
              <a:rPr dirty="0"/>
              <a:t>cualquier</a:t>
            </a:r>
            <a:r>
              <a:rPr spc="130" dirty="0"/>
              <a:t> </a:t>
            </a:r>
            <a:r>
              <a:rPr dirty="0"/>
              <a:t>nueva</a:t>
            </a:r>
            <a:r>
              <a:rPr spc="130" dirty="0"/>
              <a:t> </a:t>
            </a:r>
            <a:r>
              <a:rPr dirty="0"/>
              <a:t>interfaz</a:t>
            </a:r>
            <a:r>
              <a:rPr spc="130" dirty="0"/>
              <a:t> </a:t>
            </a:r>
            <a:r>
              <a:rPr dirty="0"/>
              <a:t>(app</a:t>
            </a:r>
            <a:r>
              <a:rPr spc="130" dirty="0"/>
              <a:t> </a:t>
            </a:r>
            <a:r>
              <a:rPr dirty="0"/>
              <a:t>móvil,</a:t>
            </a:r>
            <a:r>
              <a:rPr spc="130" dirty="0"/>
              <a:t> </a:t>
            </a:r>
            <a:r>
              <a:rPr dirty="0"/>
              <a:t>wearable)</a:t>
            </a:r>
            <a:r>
              <a:rPr spc="130" dirty="0"/>
              <a:t> </a:t>
            </a:r>
            <a:r>
              <a:rPr spc="-10" dirty="0"/>
              <a:t>puede </a:t>
            </a:r>
            <a:r>
              <a:rPr dirty="0"/>
              <a:t>consumirla</a:t>
            </a:r>
            <a:r>
              <a:rPr spc="80" dirty="0"/>
              <a:t> </a:t>
            </a:r>
            <a:r>
              <a:rPr dirty="0"/>
              <a:t>sin</a:t>
            </a:r>
            <a:r>
              <a:rPr spc="85" dirty="0"/>
              <a:t> </a:t>
            </a:r>
            <a:r>
              <a:rPr dirty="0"/>
              <a:t>tocar</a:t>
            </a:r>
            <a:r>
              <a:rPr spc="85" dirty="0"/>
              <a:t> </a:t>
            </a:r>
            <a:r>
              <a:rPr dirty="0"/>
              <a:t>el</a:t>
            </a:r>
            <a:r>
              <a:rPr spc="85" dirty="0"/>
              <a:t> </a:t>
            </a:r>
            <a:r>
              <a:rPr spc="-10" dirty="0"/>
              <a:t>backend.</a:t>
            </a:r>
          </a:p>
          <a:p>
            <a:pPr marL="12700" marR="5080">
              <a:lnSpc>
                <a:spcPct val="227300"/>
              </a:lnSpc>
            </a:pPr>
            <a:r>
              <a:rPr dirty="0"/>
              <a:t>El</a:t>
            </a:r>
            <a:r>
              <a:rPr spc="90" dirty="0"/>
              <a:t> </a:t>
            </a:r>
            <a:r>
              <a:rPr dirty="0"/>
              <a:t>sistema</a:t>
            </a:r>
            <a:r>
              <a:rPr spc="95" dirty="0"/>
              <a:t> </a:t>
            </a:r>
            <a:r>
              <a:rPr dirty="0"/>
              <a:t>de</a:t>
            </a:r>
            <a:r>
              <a:rPr spc="90" dirty="0"/>
              <a:t> </a:t>
            </a:r>
            <a:r>
              <a:rPr dirty="0"/>
              <a:t>sparrings</a:t>
            </a:r>
            <a:r>
              <a:rPr spc="95" dirty="0"/>
              <a:t> </a:t>
            </a:r>
            <a:r>
              <a:rPr dirty="0"/>
              <a:t>es</a:t>
            </a:r>
            <a:r>
              <a:rPr spc="95" dirty="0"/>
              <a:t> </a:t>
            </a:r>
            <a:r>
              <a:rPr dirty="0"/>
              <a:t>extensible</a:t>
            </a:r>
            <a:r>
              <a:rPr spc="9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b="1" dirty="0">
                <a:latin typeface="Arial"/>
                <a:cs typeface="Arial"/>
              </a:rPr>
              <a:t>torneos,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ligas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y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federaciones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dirty="0"/>
              <a:t>con</a:t>
            </a:r>
            <a:r>
              <a:rPr spc="95" dirty="0"/>
              <a:t> </a:t>
            </a:r>
            <a:r>
              <a:rPr dirty="0"/>
              <a:t>cambios</a:t>
            </a:r>
            <a:r>
              <a:rPr spc="90" dirty="0"/>
              <a:t> </a:t>
            </a:r>
            <a:r>
              <a:rPr dirty="0"/>
              <a:t>mínimos</a:t>
            </a:r>
            <a:r>
              <a:rPr spc="95" dirty="0"/>
              <a:t> </a:t>
            </a:r>
            <a:r>
              <a:rPr dirty="0"/>
              <a:t>en</a:t>
            </a:r>
            <a:r>
              <a:rPr spc="90" dirty="0"/>
              <a:t> </a:t>
            </a:r>
            <a:r>
              <a:rPr dirty="0"/>
              <a:t>el</a:t>
            </a:r>
            <a:r>
              <a:rPr spc="95" dirty="0"/>
              <a:t> </a:t>
            </a:r>
            <a:r>
              <a:rPr dirty="0"/>
              <a:t>modelo</a:t>
            </a:r>
            <a:r>
              <a:rPr spc="95" dirty="0"/>
              <a:t> </a:t>
            </a:r>
            <a:r>
              <a:rPr dirty="0"/>
              <a:t>de</a:t>
            </a:r>
            <a:r>
              <a:rPr spc="90" dirty="0"/>
              <a:t> </a:t>
            </a:r>
            <a:r>
              <a:rPr spc="-10" dirty="0"/>
              <a:t>datos. </a:t>
            </a:r>
            <a:r>
              <a:rPr dirty="0"/>
              <a:t>Infraestructura</a:t>
            </a:r>
            <a:r>
              <a:rPr spc="105" dirty="0"/>
              <a:t> </a:t>
            </a:r>
            <a:r>
              <a:rPr b="1" dirty="0">
                <a:latin typeface="Arial"/>
                <a:cs typeface="Arial"/>
              </a:rPr>
              <a:t>Docker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dirty="0"/>
              <a:t>lista</a:t>
            </a:r>
            <a:r>
              <a:rPr spc="110" dirty="0"/>
              <a:t> </a:t>
            </a:r>
            <a:r>
              <a:rPr dirty="0"/>
              <a:t>para</a:t>
            </a:r>
            <a:r>
              <a:rPr spc="110" dirty="0"/>
              <a:t> </a:t>
            </a:r>
            <a:r>
              <a:rPr dirty="0"/>
              <a:t>desplegar</a:t>
            </a:r>
            <a:r>
              <a:rPr spc="110" dirty="0"/>
              <a:t> </a:t>
            </a:r>
            <a:r>
              <a:rPr dirty="0"/>
              <a:t>en</a:t>
            </a:r>
            <a:r>
              <a:rPr spc="110" dirty="0"/>
              <a:t> </a:t>
            </a:r>
            <a:r>
              <a:rPr dirty="0"/>
              <a:t>la</a:t>
            </a:r>
            <a:r>
              <a:rPr spc="110" dirty="0"/>
              <a:t> </a:t>
            </a:r>
            <a:r>
              <a:rPr dirty="0"/>
              <a:t>nube</a:t>
            </a:r>
            <a:r>
              <a:rPr spc="110" dirty="0"/>
              <a:t> </a:t>
            </a:r>
            <a:r>
              <a:rPr dirty="0"/>
              <a:t>y</a:t>
            </a:r>
            <a:r>
              <a:rPr spc="110" dirty="0"/>
              <a:t> </a:t>
            </a:r>
            <a:r>
              <a:rPr dirty="0"/>
              <a:t>escalar</a:t>
            </a:r>
            <a:r>
              <a:rPr spc="110" dirty="0"/>
              <a:t> </a:t>
            </a:r>
            <a:r>
              <a:rPr dirty="0"/>
              <a:t>horizontalmente</a:t>
            </a:r>
            <a:r>
              <a:rPr spc="110" dirty="0"/>
              <a:t> </a:t>
            </a:r>
            <a:r>
              <a:rPr dirty="0"/>
              <a:t>según</a:t>
            </a:r>
            <a:r>
              <a:rPr spc="110" dirty="0"/>
              <a:t> </a:t>
            </a:r>
            <a:r>
              <a:rPr spc="-10" dirty="0"/>
              <a:t>demanda.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1762124"/>
            <a:ext cx="190499" cy="1904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99" y="2352674"/>
            <a:ext cx="190499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99" y="2733674"/>
            <a:ext cx="190499" cy="190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523</Words>
  <Application>Microsoft Office PowerPoint</Application>
  <PresentationFormat>Presentación en pantalla (16:9)</PresentationFormat>
  <Paragraphs>62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Arial MT</vt:lpstr>
      <vt:lpstr>Office Theme</vt:lpstr>
      <vt:lpstr>G L O V E U P</vt:lpstr>
      <vt:lpstr>INTRODUCCIÓN</vt:lpstr>
      <vt:lpstr>¿POR QUÉ GLOVEUP?</vt:lpstr>
      <vt:lpstr>DAFO</vt:lpstr>
      <vt:lpstr>STACK TECNOLÓGICO</vt:lpstr>
      <vt:lpstr>ESCALABILIDAD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GloveUp — TFG</dc:title>
  <dc:creator>Sidik Mr</dc:creator>
  <cp:lastModifiedBy>Sidik Muniru Roca - Alumno CEAC FP</cp:lastModifiedBy>
  <cp:revision>2</cp:revision>
  <dcterms:created xsi:type="dcterms:W3CDTF">2026-06-02T13:52:59Z</dcterms:created>
  <dcterms:modified xsi:type="dcterms:W3CDTF">2026-06-02T14:14:52Z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2026-06-02T00:00:00Z</vt:filetime>
  </property>
  <property fmtid="{D5CDD505-2E9C-101B-9397-08002B2CF9AE}" pid="3" name="Creator">
    <vt:lpwstr>Mozilla/5.0 (Windows NT 10.0; Win64; x64) AppleWebKit/537.36 (KHTML, like Gecko) HeadlessChrome/149.0.0.0 Safari/537.36</vt:lpwstr>
  </property>
  <property fmtid="{D5CDD505-2E9C-101B-9397-08002B2CF9AE}" pid="4" name="LastSaved">
    <vt:filetime>2026-06-02T00:00:00Z</vt:filetime>
  </property>
  <property fmtid="{D5CDD505-2E9C-101B-9397-08002B2CF9AE}" pid="5" name="Producer">
    <vt:lpwstr>Skia/PDF m149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2026-06-02T14:11:07Z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baebe467-47d5-48b9-8830-0d54fa0099cf</vt:lpwstr>
  </property>
  <property fmtid="{D5CDD505-2E9C-101B-9397-08002B2CF9AE}" pid="11" name="MSIP_Label_defa4170-0d19-0005-0004-bc88714345d2_ActionId">
    <vt:lpwstr>97a97831-159e-47d2-8f58-0a5e9c086f1c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